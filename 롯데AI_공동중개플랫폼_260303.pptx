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presProps" Target="presProps.xml"  /><Relationship Id="rId16" Type="http://schemas.openxmlformats.org/officeDocument/2006/relationships/viewProps" Target="viewProps.xml"  /><Relationship Id="rId17" Type="http://schemas.openxmlformats.org/officeDocument/2006/relationships/theme" Target="theme/theme1.xml"  /><Relationship Id="rId18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F5F">
              <a:alpha val="60000"/>
            </a:srgbClr>
          </a:solidFill>
          <a:ln w="12700">
            <a:solidFill>
              <a:srgbClr val="1A2F5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기밀문서 | 2026년 2월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롯데타워앤강남빌딩부동산중개주식회사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공동중개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부동산 플랫폼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2286000" cy="45720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B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사업계획서 &amp; 투자제안서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부동산 저평가 매물 &amp; 사전예약 AI 자동매칭 · 공동중개 통합 플랫폼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신속 · 정확 · 신뢰 · 투명한 실매물 실거래 AI 생태계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F5F"/>
          </a:solidFill>
          <a:ln w="12700">
            <a:solidFill>
              <a:srgbClr val="1A2F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대표: 공인중개사 이상수 (대치동 25년 실무)  |  등록번호: 11680-2023-00078  |  Tel: 02-578-8289 / 010-8985-8945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7315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1371600" cy="36576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B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머릿말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9110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624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29809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36941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" y="4050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맺음말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265176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2468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머릿말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4846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탄생의 배경과 사회적 선언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704088"/>
            <a:ext cx="53035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781812"/>
            <a:ext cx="384048" cy="384048"/>
          </a:xfrm>
          <a:prstGeom prst="ellipse">
            <a:avLst/>
          </a:prstGeom>
          <a:solidFill>
            <a:srgbClr val="2C3A5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781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7635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공동중개 플랫폼 개요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10012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다른가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29000" y="1220724"/>
            <a:ext cx="53035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1298448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29000" y="128016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플랫폼의 핵심 구조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9000" y="15179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 · 공급자 · 공동중개 통합 시스템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29000" y="1737360"/>
            <a:ext cx="53035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0" y="1815084"/>
            <a:ext cx="384048" cy="384048"/>
          </a:xfrm>
          <a:prstGeom prst="ellipse">
            <a:avLst/>
          </a:prstGeom>
          <a:solidFill>
            <a:srgbClr val="2C3A5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18150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29000" y="179679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투명성 기능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29000" y="20345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허위매물 퇴출과 공정 거래 생태계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29000" y="2253996"/>
            <a:ext cx="53035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6080" y="2331720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29000" y="231343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사전예약 AI 자동매칭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29000" y="255117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신속 · 정확 · 신뢰의 계약 문화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29000" y="2770632"/>
            <a:ext cx="53035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26080" y="2848356"/>
            <a:ext cx="384048" cy="384048"/>
          </a:xfrm>
          <a:prstGeom prst="ellipse">
            <a:avLst/>
          </a:prstGeom>
          <a:solidFill>
            <a:srgbClr val="2C3A5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28483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29000" y="28300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모델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429000" y="30678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지속적으로 성장하는가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29000" y="3287268"/>
            <a:ext cx="53035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3364992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29000" y="334670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 확장성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429000" y="3584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시장이 커질수록 강해지는 플랫폼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29000" y="3803904"/>
            <a:ext cx="53035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26080" y="3881628"/>
            <a:ext cx="384048" cy="384048"/>
          </a:xfrm>
          <a:prstGeom prst="ellipse">
            <a:avLst/>
          </a:prstGeom>
          <a:solidFill>
            <a:srgbClr val="2C3A5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0" y="3881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429000" y="38633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전망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429000" y="41010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설득력 있는 숫자와 근거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429000" y="4320540"/>
            <a:ext cx="53035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26080" y="4398264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2608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끝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429000" y="437997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맺음말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3429000" y="461772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플랫폼이 만드는 미래 부동산 생태계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머릿말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탄생의 배경과 사회적 선언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1A2F5F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1371600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대치동에서 25년을 공인중개사로 일하며 반복해서 목격한 문제가 있습니다.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매물을 가진 중개업자가 가격을 담합하거나, 일부러 공개를 늦추어 독점적 이익을 챙기는 구조입니다.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소비자는 정보를 얻지 못한 채 수개월을 헤매고, 원하는 시기에 원하는 가격의 물건을 구하지 못해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이사 시기를 놓치거나 과도한 비용을 치릅니다.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문제의 핵심: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부동산 시장에 '시간을 통제하는 권력'이 존재한다는 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063240"/>
            <a:ext cx="7315200" cy="640080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63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플랫폼은 그 시간을 없앱니다.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플랫폼 선언: "신속 · 정확 · 신뢰 · 투명한 실매물 실거래를 주된 영업으로 하는 AI 공동중개 부동산 플랫폼"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F5F"/>
          </a:solidFill>
          <a:ln w="12700">
            <a:solidFill>
              <a:srgbClr val="1A2F5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공동중개 플랫폼 개요 — 무엇이 다른가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965960" cy="384048"/>
          </a:xfrm>
          <a:prstGeom prst="rect">
            <a:avLst/>
          </a:prstGeom>
          <a:solidFill>
            <a:srgbClr val="2C3A5C"/>
          </a:solidFill>
          <a:ln w="12700">
            <a:solidFill>
              <a:srgbClr val="2C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914400"/>
            <a:ext cx="3154680" cy="38404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914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부동산 플랫폼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914400"/>
            <a:ext cx="3154680" cy="384048"/>
          </a:xfrm>
          <a:prstGeom prst="rect">
            <a:avLst/>
          </a:prstGeom>
          <a:solidFill>
            <a:srgbClr val="1A2F5F"/>
          </a:solidFill>
          <a:ln w="12700">
            <a:solidFill>
              <a:srgbClr val="1A2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914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공동중개 플랫폼 (본 앱)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298448"/>
            <a:ext cx="1965960" cy="475488"/>
          </a:xfrm>
          <a:prstGeom prst="rect">
            <a:avLst/>
          </a:prstGeom>
          <a:solidFill>
            <a:srgbClr val="E8EDF8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984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매물 출처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1298448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59152" y="1453896"/>
            <a:ext cx="164592" cy="164592"/>
          </a:xfrm>
          <a:prstGeom prst="ellipse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129844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중개사 단독 등록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1298448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59552" y="1453896"/>
            <a:ext cx="164592" cy="164592"/>
          </a:xfrm>
          <a:prstGeom prst="ellipse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79008" y="129844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 + 공급자 + 공동중개업자 통합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1801368"/>
            <a:ext cx="1965960" cy="475488"/>
          </a:xfrm>
          <a:prstGeom prst="rect">
            <a:avLst/>
          </a:prstGeom>
          <a:solidFill>
            <a:srgbClr val="E8EDF8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80136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공개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0" y="1801368"/>
            <a:ext cx="3154680" cy="475488"/>
          </a:xfrm>
          <a:prstGeom prst="rect">
            <a:avLst/>
          </a:prstGeom>
          <a:solidFill>
            <a:srgbClr val="EEF2FA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9152" y="1956816"/>
            <a:ext cx="164592" cy="164592"/>
          </a:xfrm>
          <a:prstGeom prst="ellipse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180136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중개사가 시기·가격 통제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1801368"/>
            <a:ext cx="3154680" cy="475488"/>
          </a:xfrm>
          <a:prstGeom prst="rect">
            <a:avLst/>
          </a:prstGeom>
          <a:solidFill>
            <a:srgbClr val="EEF2FA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9552" y="1956816"/>
            <a:ext cx="164592" cy="164592"/>
          </a:xfrm>
          <a:prstGeom prst="ellipse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9008" y="180136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공개, AI 적정가 즉시 분석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304288"/>
            <a:ext cx="1965960" cy="475488"/>
          </a:xfrm>
          <a:prstGeom prst="rect">
            <a:avLst/>
          </a:prstGeom>
          <a:solidFill>
            <a:srgbClr val="E8EDF8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3042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방식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0" y="2304288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9152" y="2459736"/>
            <a:ext cx="164592" cy="164592"/>
          </a:xfrm>
          <a:prstGeom prst="ellipse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8608" y="230428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전화·방문 후 수동 연결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0" y="2304288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59552" y="2459736"/>
            <a:ext cx="164592" cy="164592"/>
          </a:xfrm>
          <a:prstGeom prst="ellipse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230428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자동매칭, 1초 내 최적 연결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2807208"/>
            <a:ext cx="1965960" cy="475488"/>
          </a:xfrm>
          <a:prstGeom prst="rect">
            <a:avLst/>
          </a:prstGeom>
          <a:solidFill>
            <a:srgbClr val="E8EDF8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80720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허위매물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86000" y="2807208"/>
            <a:ext cx="3154680" cy="475488"/>
          </a:xfrm>
          <a:prstGeom prst="rect">
            <a:avLst/>
          </a:prstGeom>
          <a:solidFill>
            <a:srgbClr val="EEF2FA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59152" y="2962656"/>
            <a:ext cx="164592" cy="164592"/>
          </a:xfrm>
          <a:prstGeom prst="ellipse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78608" y="280720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신고 후 수동 처리(느림)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0" y="2807208"/>
            <a:ext cx="3154680" cy="475488"/>
          </a:xfrm>
          <a:prstGeom prst="rect">
            <a:avLst/>
          </a:prstGeom>
          <a:solidFill>
            <a:srgbClr val="EEF2FA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59552" y="2962656"/>
            <a:ext cx="164592" cy="164592"/>
          </a:xfrm>
          <a:prstGeom prst="ellipse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79008" y="280720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자동 감지·퇴출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310128"/>
            <a:ext cx="1965960" cy="475488"/>
          </a:xfrm>
          <a:prstGeom prst="rect">
            <a:avLst/>
          </a:prstGeom>
          <a:solidFill>
            <a:srgbClr val="E8EDF8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3101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공동중개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86000" y="3310128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59152" y="3465576"/>
            <a:ext cx="164592" cy="164592"/>
          </a:xfrm>
          <a:prstGeom prst="ellipse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78608" y="331012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협의, 정보 단절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0" y="3310128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59552" y="3465576"/>
            <a:ext cx="164592" cy="164592"/>
          </a:xfrm>
          <a:prstGeom prst="ellipse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79008" y="331012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내 공동중개 통합 운영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3813048"/>
            <a:ext cx="1965960" cy="475488"/>
          </a:xfrm>
          <a:prstGeom prst="rect">
            <a:avLst/>
          </a:prstGeom>
          <a:solidFill>
            <a:srgbClr val="E8EDF8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8130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시기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286000" y="3813048"/>
            <a:ext cx="3154680" cy="475488"/>
          </a:xfrm>
          <a:prstGeom prst="rect">
            <a:avLst/>
          </a:prstGeom>
          <a:solidFill>
            <a:srgbClr val="EEF2FA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59152" y="3968496"/>
            <a:ext cx="164592" cy="164592"/>
          </a:xfrm>
          <a:prstGeom prst="ellipse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78608" y="381304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사후(事後) 탐색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86400" y="3813048"/>
            <a:ext cx="3154680" cy="475488"/>
          </a:xfrm>
          <a:prstGeom prst="rect">
            <a:avLst/>
          </a:prstGeom>
          <a:solidFill>
            <a:srgbClr val="EEF2FA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59552" y="3968496"/>
            <a:ext cx="164592" cy="164592"/>
          </a:xfrm>
          <a:prstGeom prst="ellipse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79008" y="381304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사전(事前) 예약 후 AI 자동매칭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차별점 3가지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2743200" cy="73152"/>
          </a:xfrm>
          <a:prstGeom prst="rect">
            <a:avLst/>
          </a:prstGeom>
          <a:solidFill>
            <a:srgbClr val="1A2F5F"/>
          </a:solidFill>
          <a:ln w="12700">
            <a:solidFill>
              <a:srgbClr val="1A2F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051560"/>
            <a:ext cx="822960" cy="822960"/>
          </a:xfrm>
          <a:prstGeom prst="ellipse">
            <a:avLst/>
          </a:prstGeom>
          <a:solidFill>
            <a:srgbClr val="1A2F5F"/>
          </a:solidFill>
          <a:ln w="12700">
            <a:solidFill>
              <a:srgbClr val="1A2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051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플랫폼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 + 공동중개업자 + 공급자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장(場)에서 거래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201168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3154680"/>
            <a:ext cx="137160" cy="137160"/>
          </a:xfrm>
          <a:prstGeom prst="ellipse">
            <a:avLst/>
          </a:prstGeom>
          <a:solidFill>
            <a:srgbClr val="1A2F5F"/>
          </a:solidFill>
          <a:ln w="12700">
            <a:solidFill>
              <a:srgbClr val="1A2F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27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소비자가 직접 매물 등록 가능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3566160"/>
            <a:ext cx="137160" cy="137160"/>
          </a:xfrm>
          <a:prstGeom prst="ellipse">
            <a:avLst/>
          </a:prstGeom>
          <a:solidFill>
            <a:srgbClr val="1A2F5F"/>
          </a:solidFill>
          <a:ln w="12700">
            <a:solidFill>
              <a:srgbClr val="1A2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38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공동중개업자도 보유 매물 플랫폼 등록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3977640"/>
            <a:ext cx="137160" cy="137160"/>
          </a:xfrm>
          <a:prstGeom prst="ellipse">
            <a:avLst/>
          </a:prstGeom>
          <a:solidFill>
            <a:srgbClr val="1A2F5F"/>
          </a:solidFill>
          <a:ln w="12700">
            <a:solidFill>
              <a:srgbClr val="1A2F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50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독점·은닉·담합이 설 자리를 잃음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91440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914400"/>
            <a:ext cx="2743200" cy="7315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1051560"/>
            <a:ext cx="822960" cy="822960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1051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3756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사전예약 AI 자동매칭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3756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미래의 물건을 지금 예약한다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3017520"/>
            <a:ext cx="201168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64992" y="3154680"/>
            <a:ext cx="137160" cy="137160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27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이사·입학 시기를 미리 등록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64992" y="3566160"/>
            <a:ext cx="137160" cy="137160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538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조건이 맞는 순간 자동 연결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64992" y="3977640"/>
            <a:ext cx="137160" cy="137160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950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내 '시간 지체'를 완전 제거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91440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914400"/>
            <a:ext cx="2743200" cy="73152"/>
          </a:xfrm>
          <a:prstGeom prst="rect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1051560"/>
            <a:ext cx="822960" cy="822960"/>
          </a:xfrm>
          <a:prstGeom prst="ellipse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1051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6364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투명성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6364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가격 왜곡과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허위매물을 자동 감지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92240" y="3017520"/>
            <a:ext cx="201168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91072" y="3154680"/>
            <a:ext cx="137160" cy="137160"/>
          </a:xfrm>
          <a:prstGeom prst="ellipse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3127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실거래 빅데이터 기반 적정 시세 분석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91072" y="3566160"/>
            <a:ext cx="137160" cy="137160"/>
          </a:xfrm>
          <a:prstGeom prst="ellipse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3538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매물 자동 표시 시스템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91072" y="3977640"/>
            <a:ext cx="137160" cy="137160"/>
          </a:xfrm>
          <a:prstGeom prst="ellipse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3950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담합 물건은 타 중개업자가 직접 등록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137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 자동매칭 프로세스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1737360"/>
          </a:xfrm>
          <a:prstGeom prst="rect">
            <a:avLst/>
          </a:prstGeom>
          <a:solidFill>
            <a:srgbClr val="1A2F5F"/>
          </a:solidFill>
          <a:ln w="12700">
            <a:solidFill>
              <a:srgbClr val="1A2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등록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627632"/>
            <a:ext cx="1828800" cy="0"/>
          </a:xfrm>
          <a:prstGeom prst="line">
            <a:avLst/>
          </a:prstGeom>
          <a:noFill/>
          <a:ln w="6350">
            <a:solidFill>
              <a:srgbClr val="3A4F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시기·가격·위치·학군 입력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121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1691640"/>
            <a:ext cx="137160" cy="0"/>
          </a:xfrm>
          <a:prstGeom prst="line">
            <a:avLst/>
          </a:prstGeom>
          <a:noFill/>
          <a:ln w="25400">
            <a:solidFill>
              <a:srgbClr val="C992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822960"/>
            <a:ext cx="2743200" cy="1737360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57600" y="1627632"/>
            <a:ext cx="1828800" cy="0"/>
          </a:xfrm>
          <a:prstGeom prst="line">
            <a:avLst/>
          </a:prstGeom>
          <a:noFill/>
          <a:ln w="6350">
            <a:solidFill>
              <a:srgbClr val="8B6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 기반 적정가 분석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121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1691640"/>
            <a:ext cx="137160" cy="0"/>
          </a:xfrm>
          <a:prstGeom prst="line">
            <a:avLst/>
          </a:prstGeom>
          <a:noFill/>
          <a:ln w="25400">
            <a:solidFill>
              <a:srgbClr val="C992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822960"/>
            <a:ext cx="2743200" cy="1737360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자동매칭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0" y="1627632"/>
            <a:ext cx="1828800" cy="0"/>
          </a:xfrm>
          <a:prstGeom prst="line">
            <a:avLst/>
          </a:prstGeom>
          <a:noFill/>
          <a:ln w="6350">
            <a:solidFill>
              <a:srgbClr val="8B6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조건이 맞는 상대방 즉시 연결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2121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2743200" cy="1737360"/>
          </a:xfrm>
          <a:prstGeom prst="rect">
            <a:avLst/>
          </a:prstGeom>
          <a:solidFill>
            <a:srgbClr val="1A2F5F"/>
          </a:solidFill>
          <a:ln w="12700">
            <a:solidFill>
              <a:srgbClr val="1A2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3218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 상담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31520" y="3639312"/>
            <a:ext cx="1828800" cy="0"/>
          </a:xfrm>
          <a:prstGeom prst="line">
            <a:avLst/>
          </a:prstGeom>
          <a:noFill/>
          <a:ln w="6350">
            <a:solidFill>
              <a:srgbClr val="3A4F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확인 및 세부 협의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133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실시간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17520" y="3703320"/>
            <a:ext cx="137160" cy="0"/>
          </a:xfrm>
          <a:prstGeom prst="line">
            <a:avLst/>
          </a:prstGeom>
          <a:noFill/>
          <a:ln w="25400">
            <a:solidFill>
              <a:srgbClr val="C992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2834640"/>
            <a:ext cx="2743200" cy="1737360"/>
          </a:xfrm>
          <a:prstGeom prst="rect">
            <a:avLst/>
          </a:prstGeom>
          <a:solidFill>
            <a:srgbClr val="1A2F5F"/>
          </a:solidFill>
          <a:ln w="12700">
            <a:solidFill>
              <a:srgbClr val="1A2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0040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0" y="3218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확정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657600" y="3639312"/>
            <a:ext cx="1828800" cy="0"/>
          </a:xfrm>
          <a:prstGeom prst="line">
            <a:avLst/>
          </a:prstGeom>
          <a:noFill/>
          <a:ln w="6350">
            <a:solidFill>
              <a:srgbClr val="3A4F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시기·조건 사전 합의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0" y="4133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즉시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43600" y="3703320"/>
            <a:ext cx="137160" cy="0"/>
          </a:xfrm>
          <a:prstGeom prst="line">
            <a:avLst/>
          </a:prstGeom>
          <a:noFill/>
          <a:ln w="25400">
            <a:solidFill>
              <a:srgbClr val="C992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2834640"/>
            <a:ext cx="2743200" cy="1737360"/>
          </a:xfrm>
          <a:prstGeom prst="rect">
            <a:avLst/>
          </a:prstGeom>
          <a:solidFill>
            <a:srgbClr val="1A2F5F"/>
          </a:solidFill>
          <a:ln w="12700">
            <a:solidFill>
              <a:srgbClr val="1A2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2648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26480" y="3218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체결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583680" y="3639312"/>
            <a:ext cx="1828800" cy="0"/>
          </a:xfrm>
          <a:prstGeom prst="line">
            <a:avLst/>
          </a:prstGeom>
          <a:noFill/>
          <a:ln w="6350">
            <a:solidFill>
              <a:srgbClr val="3A4F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약정 시기에 실거래 계약 완료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26480" y="4133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예약 시기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투명성 기능 — 공정 거래 생태계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FF0F0"/>
          </a:solidFill>
          <a:ln w="6350">
            <a:solidFill>
              <a:srgbClr val="F5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3931920" cy="7315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없애는 것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274320" cy="27432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36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중개업자의 독점적 매물 통제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274320" cy="27432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130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담합에 의한 가격 왜곡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274320" cy="27432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7523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허위매물로 인한 소비자 피해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01568"/>
            <a:ext cx="274320" cy="27432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3741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비대칭으로 인한 불공정 거래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274320" cy="27432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995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탐색에 낭비되는 시간 비용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914400"/>
            <a:ext cx="4297680" cy="3931920"/>
          </a:xfrm>
          <a:prstGeom prst="rect">
            <a:avLst/>
          </a:prstGeom>
          <a:solidFill>
            <a:srgbClr val="F0FFF5"/>
          </a:solidFill>
          <a:ln w="6350">
            <a:solidFill>
              <a:srgbClr val="BBDD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914400"/>
            <a:ext cx="4297680" cy="73152"/>
          </a:xfrm>
          <a:prstGeom prst="rect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만드는 것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09160" y="1536192"/>
            <a:ext cx="274320" cy="274320"/>
          </a:xfrm>
          <a:prstGeom prst="ellipse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536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소비자·공급자 직접 연결 공정 시장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2157984"/>
            <a:ext cx="274320" cy="274320"/>
          </a:xfrm>
          <a:prstGeom prst="ellipse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2130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적정 시세 투명 공개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2779776"/>
            <a:ext cx="274320" cy="274320"/>
          </a:xfrm>
          <a:prstGeom prst="ellipse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74920" y="27523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실매물 실거래 중심 신뢰 생태계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9160" y="3401568"/>
            <a:ext cx="274320" cy="274320"/>
          </a:xfrm>
          <a:prstGeom prst="ellipse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74920" y="33741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공동중개로 더 많은 매물 공개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09160" y="4023360"/>
            <a:ext cx="274320" cy="274320"/>
          </a:xfrm>
          <a:prstGeom prst="ellipse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74920" y="3995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사전예약으로 신속한 거래 순환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사전예약 AI 자동매칭 — 사전(事前) vs 사후(事後)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1783080" cy="384048"/>
          </a:xfrm>
          <a:prstGeom prst="rect">
            <a:avLst/>
          </a:prstGeom>
          <a:solidFill>
            <a:srgbClr val="2C3A5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914400"/>
            <a:ext cx="3246120" cy="384048"/>
          </a:xfrm>
          <a:prstGeom prst="rect">
            <a:avLst/>
          </a:prstGeom>
          <a:solidFill>
            <a:srgbClr val="7A1A1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9144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(기존)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49240" y="914400"/>
            <a:ext cx="3520440" cy="384048"/>
          </a:xfrm>
          <a:prstGeom prst="rect">
            <a:avLst/>
          </a:prstGeom>
          <a:solidFill>
            <a:srgbClr val="1A4F2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9144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(사전예약 시스템)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298448"/>
            <a:ext cx="1783080" cy="530352"/>
          </a:xfrm>
          <a:prstGeom prst="rect">
            <a:avLst/>
          </a:prstGeom>
          <a:solidFill>
            <a:srgbClr val="EEF0F8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1298448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시작점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57400" y="1298448"/>
            <a:ext cx="3246120" cy="530352"/>
          </a:xfrm>
          <a:prstGeom prst="rect">
            <a:avLst/>
          </a:prstGeom>
          <a:solidFill>
            <a:srgbClr val="FFF5F5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0552" y="1298448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매물 등장 후 고객 탐색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9240" y="1298448"/>
            <a:ext cx="3520440" cy="530352"/>
          </a:xfrm>
          <a:prstGeom prst="rect">
            <a:avLst/>
          </a:prstGeom>
          <a:solidFill>
            <a:srgbClr val="F5FFF8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2392" y="1298448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고객·매물 모두 미리 등록 후 매칭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1865376"/>
            <a:ext cx="1783080" cy="530352"/>
          </a:xfrm>
          <a:prstGeom prst="rect">
            <a:avLst/>
          </a:prstGeom>
          <a:solidFill>
            <a:srgbClr val="EEF0F8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86537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시기 조율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57400" y="1865376"/>
            <a:ext cx="3246120" cy="530352"/>
          </a:xfrm>
          <a:prstGeom prst="rect">
            <a:avLst/>
          </a:prstGeom>
          <a:solidFill>
            <a:srgbClr val="FFF5F5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0552" y="1865376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직전 협의, 불일치 잦음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9240" y="1865376"/>
            <a:ext cx="3520440" cy="530352"/>
          </a:xfrm>
          <a:prstGeom prst="rect">
            <a:avLst/>
          </a:prstGeom>
          <a:solidFill>
            <a:srgbClr val="F5FFF8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2392" y="1865376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이사·입학 시기 미리 합의, 불일치 제거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2432304"/>
            <a:ext cx="1783080" cy="530352"/>
          </a:xfrm>
          <a:prstGeom prst="rect">
            <a:avLst/>
          </a:prstGeom>
          <a:solidFill>
            <a:srgbClr val="EEF0F8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243230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 기간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57400" y="2432304"/>
            <a:ext cx="3246120" cy="530352"/>
          </a:xfrm>
          <a:prstGeom prst="rect">
            <a:avLst/>
          </a:prstGeom>
          <a:solidFill>
            <a:srgbClr val="FFF5F5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0552" y="2432304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3~6개월 발품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49240" y="2432304"/>
            <a:ext cx="3520440" cy="530352"/>
          </a:xfrm>
          <a:prstGeom prst="rect">
            <a:avLst/>
          </a:prstGeom>
          <a:solidFill>
            <a:srgbClr val="F5FFF8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22392" y="2432304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자동매칭으로 1초~수일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2999232"/>
            <a:ext cx="1783080" cy="530352"/>
          </a:xfrm>
          <a:prstGeom prst="rect">
            <a:avLst/>
          </a:prstGeom>
          <a:solidFill>
            <a:srgbClr val="EEF0F8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299923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결정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57400" y="2999232"/>
            <a:ext cx="3246120" cy="530352"/>
          </a:xfrm>
          <a:prstGeom prst="rect">
            <a:avLst/>
          </a:prstGeom>
          <a:solidFill>
            <a:srgbClr val="FFF5F5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30552" y="2999232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감정적 협상, 정보 불균형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49240" y="2999232"/>
            <a:ext cx="3520440" cy="530352"/>
          </a:xfrm>
          <a:prstGeom prst="rect">
            <a:avLst/>
          </a:prstGeom>
          <a:solidFill>
            <a:srgbClr val="F5FFF8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22392" y="2999232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적정가 기반 합리적 협상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3566160"/>
            <a:ext cx="1783080" cy="530352"/>
          </a:xfrm>
          <a:prstGeom prst="rect">
            <a:avLst/>
          </a:prstGeom>
          <a:solidFill>
            <a:srgbClr val="EEF0F8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566160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안정성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57400" y="3566160"/>
            <a:ext cx="3246120" cy="530352"/>
          </a:xfrm>
          <a:prstGeom prst="rect">
            <a:avLst/>
          </a:prstGeom>
          <a:solidFill>
            <a:srgbClr val="FFF5F5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30552" y="3566160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막바지 조건 변경 잦음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49240" y="3566160"/>
            <a:ext cx="3520440" cy="530352"/>
          </a:xfrm>
          <a:prstGeom prst="rect">
            <a:avLst/>
          </a:prstGeom>
          <a:solidFill>
            <a:srgbClr val="F5FFF8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22392" y="3566160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합의 조건 기반 안정적 계약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" y="4133088"/>
            <a:ext cx="1783080" cy="530352"/>
          </a:xfrm>
          <a:prstGeom prst="rect">
            <a:avLst/>
          </a:prstGeom>
          <a:solidFill>
            <a:srgbClr val="EEF0F8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" y="4133088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자금 준비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057400" y="4133088"/>
            <a:ext cx="3246120" cy="530352"/>
          </a:xfrm>
          <a:prstGeom prst="rect">
            <a:avLst/>
          </a:prstGeom>
          <a:solidFill>
            <a:srgbClr val="FFF5F5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30552" y="4133088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촉박, 무리한 대출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49240" y="4133088"/>
            <a:ext cx="3520440" cy="530352"/>
          </a:xfrm>
          <a:prstGeom prst="rect">
            <a:avLst/>
          </a:prstGeom>
          <a:solidFill>
            <a:srgbClr val="F5FFF8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22392" y="4133088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후 충분한 준비 기간 확보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5장  수익 모델 — 왜 지속 성장하는가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1645920" cy="3200400"/>
          </a:xfrm>
          <a:prstGeom prst="rect">
            <a:avLst/>
          </a:prstGeom>
          <a:solidFill>
            <a:srgbClr val="1A2F5F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22960"/>
            <a:ext cx="1645920" cy="7315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960120"/>
            <a:ext cx="822960" cy="822960"/>
          </a:xfrm>
          <a:prstGeom prst="ellipse">
            <a:avLst/>
          </a:prstGeom>
          <a:solidFill>
            <a:srgbClr val="C9922B">
              <a:alpha val="80000"/>
            </a:srgbClr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매칭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중개 수수료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25420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매수·임차 성사 건당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법정 중개보수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182112"/>
            <a:ext cx="1280160" cy="0"/>
          </a:xfrm>
          <a:prstGeom prst="line">
            <a:avLst/>
          </a:prstGeom>
          <a:noFill/>
          <a:ln w="6350">
            <a:solidFill>
              <a:srgbClr val="C99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0B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건수에 비례 무한 확장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56816" y="822960"/>
            <a:ext cx="1645920" cy="3200400"/>
          </a:xfrm>
          <a:prstGeom prst="rect">
            <a:avLst/>
          </a:prstGeom>
          <a:solidFill>
            <a:srgbClr val="1A2F5F"/>
          </a:solidFill>
          <a:ln w="12700">
            <a:solidFill>
              <a:srgbClr val="4EA8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56816" y="822960"/>
            <a:ext cx="1645920" cy="73152"/>
          </a:xfrm>
          <a:prstGeom prst="rect">
            <a:avLst/>
          </a:prstGeom>
          <a:solidFill>
            <a:srgbClr val="4EA8DE"/>
          </a:solidFill>
          <a:ln w="12700">
            <a:solidFill>
              <a:srgbClr val="4EA8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68296" y="960120"/>
            <a:ext cx="822960" cy="822960"/>
          </a:xfrm>
          <a:prstGeom prst="ellipse">
            <a:avLst/>
          </a:prstGeom>
          <a:solidFill>
            <a:srgbClr val="4EA8DE">
              <a:alpha val="80000"/>
            </a:srgbClr>
          </a:solidFill>
          <a:ln w="12700">
            <a:solidFill>
              <a:srgbClr val="4EA8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8296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56816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공동중개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E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 정산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56816" y="25420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성사 건당 자동 분배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 업자 증가 시 건수 폭증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39696" y="3182112"/>
            <a:ext cx="1280160" cy="0"/>
          </a:xfrm>
          <a:prstGeom prst="line">
            <a:avLst/>
          </a:prstGeom>
          <a:noFill/>
          <a:ln w="6350">
            <a:solidFill>
              <a:srgbClr val="4EA8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56816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0B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 업자 증가 시 폭증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30752" y="822960"/>
            <a:ext cx="1645920" cy="3200400"/>
          </a:xfrm>
          <a:prstGeom prst="rect">
            <a:avLst/>
          </a:prstGeom>
          <a:solidFill>
            <a:srgbClr val="1A2F5F"/>
          </a:solidFill>
          <a:ln w="12700">
            <a:solidFill>
              <a:srgbClr val="6ABF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30752" y="822960"/>
            <a:ext cx="1645920" cy="73152"/>
          </a:xfrm>
          <a:prstGeom prst="rect">
            <a:avLst/>
          </a:prstGeom>
          <a:solidFill>
            <a:srgbClr val="6ABFA0"/>
          </a:solidFill>
          <a:ln w="12700">
            <a:solidFill>
              <a:srgbClr val="6ABF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2232" y="960120"/>
            <a:ext cx="822960" cy="822960"/>
          </a:xfrm>
          <a:prstGeom prst="ellipse">
            <a:avLst/>
          </a:prstGeom>
          <a:solidFill>
            <a:srgbClr val="6ABFA0">
              <a:alpha val="80000"/>
            </a:srgbClr>
          </a:solidFill>
          <a:ln w="12700">
            <a:solidFill>
              <a:srgbClr val="6AB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730752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구독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30752" y="25420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공인중개사·부동산법인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구독료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913632" y="3182112"/>
            <a:ext cx="1280160" cy="0"/>
          </a:xfrm>
          <a:prstGeom prst="line">
            <a:avLst/>
          </a:prstGeom>
          <a:noFill/>
          <a:ln w="6350">
            <a:solidFill>
              <a:srgbClr val="6AB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0B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수에 비례 안정 수익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04688" y="822960"/>
            <a:ext cx="1645920" cy="3200400"/>
          </a:xfrm>
          <a:prstGeom prst="rect">
            <a:avLst/>
          </a:prstGeom>
          <a:solidFill>
            <a:srgbClr val="1A2F5F"/>
          </a:solidFill>
          <a:ln w="12700">
            <a:solidFill>
              <a:srgbClr val="C47F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04688" y="822960"/>
            <a:ext cx="1645920" cy="73152"/>
          </a:xfrm>
          <a:prstGeom prst="rect">
            <a:avLst/>
          </a:prstGeom>
          <a:solidFill>
            <a:srgbClr val="C47FD0"/>
          </a:solidFill>
          <a:ln w="12700">
            <a:solidFill>
              <a:srgbClr val="C47F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16168" y="960120"/>
            <a:ext cx="822960" cy="822960"/>
          </a:xfrm>
          <a:prstGeom prst="ellipse">
            <a:avLst/>
          </a:prstGeom>
          <a:solidFill>
            <a:srgbClr val="C47FD0">
              <a:alpha val="80000"/>
            </a:srgbClr>
          </a:solidFill>
          <a:ln w="12700">
            <a:solidFill>
              <a:srgbClr val="C47F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16168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04688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7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47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04688" y="25420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투자자·이주가구·기업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라이선스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87568" y="3182112"/>
            <a:ext cx="1280160" cy="0"/>
          </a:xfrm>
          <a:prstGeom prst="line">
            <a:avLst/>
          </a:prstGeom>
          <a:noFill/>
          <a:ln w="6350">
            <a:solidFill>
              <a:srgbClr val="C47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4688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0B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25년 독점 데이터 수익화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78624" y="822960"/>
            <a:ext cx="1645920" cy="3200400"/>
          </a:xfrm>
          <a:prstGeom prst="rect">
            <a:avLst/>
          </a:prstGeom>
          <a:solidFill>
            <a:srgbClr val="1A2F5F"/>
          </a:solidFill>
          <a:ln w="12700">
            <a:solidFill>
              <a:srgbClr val="E87D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78624" y="822960"/>
            <a:ext cx="1645920" cy="73152"/>
          </a:xfrm>
          <a:prstGeom prst="rect">
            <a:avLst/>
          </a:prstGeom>
          <a:solidFill>
            <a:srgbClr val="E87D4A"/>
          </a:solidFill>
          <a:ln w="12700">
            <a:solidFill>
              <a:srgbClr val="E87D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0104" y="960120"/>
            <a:ext cx="822960" cy="822960"/>
          </a:xfrm>
          <a:prstGeom prst="ellipse">
            <a:avLst/>
          </a:prstGeom>
          <a:solidFill>
            <a:srgbClr val="E87D4A">
              <a:alpha val="80000"/>
            </a:srgbClr>
          </a:solidFill>
          <a:ln w="12700">
            <a:solidFill>
              <a:srgbClr val="E87D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90104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278624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연관 서비스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7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제휴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78624" y="25420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인테리어·이사·학원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제휴 광고·수수료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61504" y="3182112"/>
            <a:ext cx="1280160" cy="0"/>
          </a:xfrm>
          <a:prstGeom prst="line">
            <a:avLst/>
          </a:prstGeom>
          <a:noFill/>
          <a:ln w="6350">
            <a:solidFill>
              <a:srgbClr val="E87D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78624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0B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거래량 증가에 비례 확장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2880" y="4160520"/>
            <a:ext cx="8778240" cy="777240"/>
          </a:xfrm>
          <a:prstGeom prst="rect">
            <a:avLst/>
          </a:prstGeom>
          <a:solidFill>
            <a:srgbClr val="1A2F5F"/>
          </a:solidFill>
          <a:ln w="6350">
            <a:solidFill>
              <a:srgbClr val="C992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연도별 수익 목표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44988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1년차: 월 5,100만원  |  2년차: 월 1.5억원+  |  3년차: 연 30억+ 목표  |  5년차: 연 100억+ 목표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 확장성 — 단계별 확장 로드맵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841248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F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1600200" cy="73152"/>
          </a:xfrm>
          <a:prstGeom prst="rect">
            <a:avLst/>
          </a:prstGeom>
          <a:solidFill>
            <a:srgbClr val="0D4F8C"/>
          </a:solidFill>
          <a:ln w="12700">
            <a:solidFill>
              <a:srgbClr val="0D4F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261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Q1~Q2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대치1동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737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100가구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바이럴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핸드폰 링크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33272" y="2377440"/>
            <a:ext cx="201168" cy="201168"/>
          </a:xfrm>
          <a:prstGeom prst="ellipse">
            <a:avLst/>
          </a:prstGeom>
          <a:solidFill>
            <a:srgbClr val="0D4F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48256" y="2788920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26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48256" y="2788920"/>
            <a:ext cx="1600200" cy="73152"/>
          </a:xfrm>
          <a:prstGeom prst="rect">
            <a:avLst/>
          </a:prstGeom>
          <a:solidFill>
            <a:srgbClr val="1262A8"/>
          </a:solidFill>
          <a:ln w="12700">
            <a:solidFill>
              <a:srgbClr val="126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48256" y="2880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6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48256" y="31363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Q3~Q4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48256" y="33375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강남구 전체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48256" y="3611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500가구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48256" y="3886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공동중개업자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협력망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15768" y="2377440"/>
            <a:ext cx="201168" cy="201168"/>
          </a:xfrm>
          <a:prstGeom prst="ellipse">
            <a:avLst/>
          </a:prstGeom>
          <a:solidFill>
            <a:srgbClr val="1262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30752" y="914400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92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30752" y="914400"/>
            <a:ext cx="1600200" cy="7315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10058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30752" y="1261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상반기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30752" y="1463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교육특구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30752" y="1737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3,000가구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30752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목동·분당·평촌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학군 확장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398264" y="2377440"/>
            <a:ext cx="201168" cy="201168"/>
          </a:xfrm>
          <a:prstGeom prst="ellipse">
            <a:avLst/>
          </a:prstGeom>
          <a:solidFill>
            <a:srgbClr val="C992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13248" y="2788920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13248" y="2788920"/>
            <a:ext cx="1600200" cy="73152"/>
          </a:xfrm>
          <a:prstGeom prst="rect">
            <a:avLst/>
          </a:prstGeom>
          <a:solidFill>
            <a:srgbClr val="E87D4A"/>
          </a:solidFill>
          <a:ln w="12700">
            <a:solidFill>
              <a:srgbClr val="E87D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13248" y="2880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13248" y="31363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하반기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13248" y="33375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수도권 전체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13248" y="3611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1만 가구+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13248" y="3886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앱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중개사 네트워크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080760" y="2377440"/>
            <a:ext cx="201168" cy="201168"/>
          </a:xfrm>
          <a:prstGeom prst="ellipse">
            <a:avLst/>
          </a:prstGeom>
          <a:solidFill>
            <a:srgbClr val="E87D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95744" y="914400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095744" y="914400"/>
            <a:ext cx="1600200" cy="7315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95744" y="10058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95744" y="1261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2028~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95744" y="1463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95744" y="1737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10만 가구+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95744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교육특구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재개발·재건축 특화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763256" y="2377440"/>
            <a:ext cx="201168" cy="201168"/>
          </a:xfrm>
          <a:prstGeom prst="ellipse">
            <a:avLst/>
          </a:prstGeom>
          <a:solidFill>
            <a:srgbClr val="B83232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전망 — 왜 지금 이 플랫폼에 투자해야 하는가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64008" cy="1005840"/>
          </a:xfrm>
          <a:prstGeom prst="rect">
            <a:avLst/>
          </a:prstGeom>
          <a:solidFill>
            <a:srgbClr val="1A2F5F"/>
          </a:solidFill>
          <a:ln w="12700">
            <a:solidFill>
              <a:srgbClr val="1A2F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부동산 중개 시장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0058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2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50조원+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94560"/>
            <a:ext cx="64008" cy="1005840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402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2624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교육특구 이주 수요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240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1.5조원+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429000"/>
            <a:ext cx="64008" cy="1005840"/>
          </a:xfrm>
          <a:prstGeom prst="rect">
            <a:avLst/>
          </a:prstGeom>
          <a:solidFill>
            <a:srgbClr val="1E7A5C"/>
          </a:solidFill>
          <a:ln w="12700">
            <a:solidFill>
              <a:srgbClr val="1E7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74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3858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대치동 AI 매칭 목표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3474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1년차 60억원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0" y="914400"/>
            <a:ext cx="4297680" cy="3931920"/>
          </a:xfrm>
          <a:prstGeom prst="rect">
            <a:avLst/>
          </a:prstGeom>
          <a:solidFill>
            <a:srgbClr val="0D1B3E"/>
          </a:solidFill>
          <a:ln w="12700">
            <a:solidFill>
              <a:srgbClr val="1A2F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투자 포인트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09160" y="1463040"/>
            <a:ext cx="347472" cy="34747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1463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필연성: 학군 수요는 10년+ 구조적 지속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011680"/>
            <a:ext cx="347472" cy="34747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2011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선점 효과: 교육특구 AI 공동중개 1위 선점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2560320"/>
            <a:ext cx="347472" cy="34747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2560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자산: 25년 실무 데이터 + 플랫폼 축적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108960"/>
            <a:ext cx="347472" cy="34747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31089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운영비: Streamlit Cloud 서버리스 최소화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3657600"/>
            <a:ext cx="347472" cy="34747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3657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확장성: 대치동 → 서울 → 전국 단계적 확장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4206240"/>
            <a:ext cx="347472" cy="34747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4206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사회적 임팩트: 부동산 시장 투명화 기여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F5F"/>
          </a:solidFill>
          <a:ln w="12700">
            <a:solidFill>
              <a:srgbClr val="1A2F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맺음말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1A2F5F"/>
          </a:solidFill>
          <a:ln w="6350">
            <a:solidFill>
              <a:srgbClr val="C992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73152" cy="2286000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부동산 시장의 불투명함은 오래된 문제입니다. 정보를 가진 자가 시간을 통제하고, 그 시간이 불공정한 이익의 원천이 되어 왔습니다. 본 플랫폼은 그 시간을 없애는 것으로 시장에 기여합니다.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소비자는 더 이상 수개월을 헤매지 않아도 됩니다. 공급자는 적정한 가격에 빠르게 거래를 성사시킬 수 있습니다. 공동중개업자는 더 넓은 시장과 연결됩니다.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383280"/>
            <a:ext cx="7315200" cy="685800"/>
          </a:xfrm>
          <a:prstGeom prst="rect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832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"신속 · 정확 · 신뢰 · 투명, 이 네 가지가 AI 공동중개 부동산 플랫폼의 존재 이유입니다."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롯데타워앤강남빌딩부동산중개주식회사  |  대표: 공인중개사 이상수  |  Tel: 02-578-8289 / 010-8985-8945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https://lotte-ai-app.streamlit.app  |  등록번호: 11680-2023-00078  |  사업자: 461-86-02740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0</ep:Words>
  <ep:PresentationFormat>On-screen Show (16:9)</ep:PresentationFormat>
  <ep:Paragraphs>0</ep:Paragraphs>
  <ep:Slides>12</ep:Slides>
  <ep:Notes>12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ep:HeadingPairs>
  <ep:TitlesOfParts>
    <vt:vector size="13" baseType="lpstr">
      <vt:lpstr>Office Theme</vt:lpstr>
      <vt:lpstr>Slide 10</vt:lpstr>
      <vt:lpstr>Slide 11</vt:lpstr>
      <vt:lpstr>Slide 12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2026-03-03T01:19:01.000</dcterms:created>
  <dc:creator>PptxGenJS</dc:creator>
  <cp:lastModifiedBy>PEACE</cp:lastModifiedBy>
  <dcterms:modified xsi:type="dcterms:W3CDTF">2026-03-03T03:55:43.568</dcterms:modified>
  <cp:revision>2</cp:revision>
  <dc:subject>PptxGenJS Presentation</dc:subject>
  <dc:title>AI 공동중개 부동산 플랫폼 종합 사업계획서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